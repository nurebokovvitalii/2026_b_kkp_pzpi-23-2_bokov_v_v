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67" r:id="rId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627" y="5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16b2ada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16b2adad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377440" y="868680"/>
            <a:ext cx="6035040" cy="15544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600" dirty="0"/>
              <a:t>Програмний застосунок обліку публікацій викладачів і студентів</a:t>
            </a:r>
            <a:endParaRPr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948250" y="3635125"/>
            <a:ext cx="5087400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4314A"/>
                </a:solidFill>
                <a:latin typeface="Arial"/>
              </a:rPr>
              <a:t>Виконав: Боков Віталій, група ПЗПІ-23-2</a:t>
            </a:r>
            <a:endParaRPr dirty="0"/>
          </a:p>
          <a:p>
            <a:r>
              <a:rPr sz="1600">
                <a:solidFill>
                  <a:srgbClr val="24314A"/>
                </a:solidFill>
                <a:latin typeface="Arial"/>
              </a:rPr>
              <a:t>Керівник: проф., к.т.н. Володимир Кобзєв</a:t>
            </a:r>
          </a:p>
          <a:p>
            <a:r>
              <a:rPr sz="1600">
                <a:solidFill>
                  <a:srgbClr val="24314A"/>
                </a:solidFill>
                <a:latin typeface="Arial"/>
              </a:rPr>
              <a:t>червня 2026</a:t>
            </a: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2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24314A"/>
                </a:solidFill>
                <a:latin typeface="Arial"/>
              </a:rPr>
              <a:t>Актуальність</a:t>
            </a:r>
            <a:endParaRPr dirty="0"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4314A"/>
                </a:solidFill>
                <a:latin typeface="Arial"/>
              </a:rPr>
              <a:t>Облік публікацій і формування звітних таблиць кафедри виконуються вручну: дані багаторазово дублюються, виникають помилки, значні витрати часу на обчислення.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4314A"/>
                </a:solidFill>
                <a:latin typeface="Arial"/>
              </a:rPr>
              <a:t>Мета роботи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4314A"/>
                </a:solidFill>
                <a:latin typeface="Arial"/>
              </a:rPr>
              <a:t>Розробити локальний програмний застосунок для ведення єдиної бази публікацій та авторів і автоматичного формування звітних форм кафедри з пошуком, фільтрацією та експортом.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Аналіз проблеми (аналіз існуючих рішень) 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600" b="1">
                <a:solidFill>
                  <a:srgbClr val="24314A"/>
                </a:solidFill>
                <a:latin typeface="Arial"/>
              </a:rPr>
              <a:t>Розглянуті аналоги: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Наукометричні бази (Scopus, Web of Science) — облік за окремим автором, не за кафедрою; лише проіндексовані видання.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Інституційні репозиторії (DSpace, Pure) — важкі в розгортанні; звітні форми не збігаються з формами кафедри.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Електронні таблиці (Excel) — дублювання даних, без звʼязків «багато-до-багатьох» і контролю цілісності.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Прогалина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Жодне рішення не формує звітні форми кафедри (I–IX) автоматично й автономно.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</a:t>
            </a:r>
            <a:r>
              <a:rPr lang="uk" sz="3200" dirty="0" smtClean="0"/>
              <a:t>задачі та опис системи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600" b="1">
                <a:solidFill>
                  <a:srgbClr val="24314A"/>
                </a:solidFill>
                <a:latin typeface="Arial"/>
              </a:rPr>
              <a:t>Проблема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Автоматизувати облік публікацій і щорічне формування звітності кафедри.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Очікувані результати: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єдина база (публікації, автори, виставки, патенти, розробки, довідники) з повним циклом CRUD;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автоматичні обчислення (авторські аркуші, вік до 35, ознаки Scopus / WoS);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15 звітних форм з експортом у Excel і Word;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розмежування доступу за ролями; автономна офлайн-робота.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600" b="1">
                <a:solidFill>
                  <a:srgbClr val="24314A"/>
                </a:solidFill>
                <a:latin typeface="Arial"/>
              </a:rPr>
              <a:t>Сервер: 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Node.js + Express — REST API та бізнес-логіка.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База даних: вбудована SQLite (node:sqlite) — без окремого сервера БД.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Клієнт: HTML / CSS + ванільний JavaScript — без важких фреймворків.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Документи: власні генератори OOXML (.xlsx / .docx) на вбудованому zlib.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Критерії вибору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Автономність, простота розгортання (x64 / ARM64), мінімум зовнішніх залежностей.</a:t>
            </a: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311700" y="1453900"/>
            <a:ext cx="8520600" cy="6400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400" b="0">
                <a:solidFill>
                  <a:srgbClr val="24314A"/>
                </a:solidFill>
                <a:latin typeface="Arial"/>
              </a:rPr>
              <a:t>Трирівнева архітектура: клієнт (браузер) — сервер (Node.js / Express) — база SQLite; обмін HTTP / JSON, локально.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pic>
        <p:nvPicPr>
          <p:cNvPr id="102" name="Picture 101" descr="02-compon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2148840"/>
            <a:ext cx="2049715" cy="239572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310896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Діаграма компонентів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 у дослідженні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11700" y="14771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600" b="1">
                <a:solidFill>
                  <a:srgbClr val="24314A"/>
                </a:solidFill>
                <a:latin typeface="Arial"/>
              </a:rPr>
              <a:t>Мови та засоби:</a:t>
            </a:r>
            <a:endParaRPr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JavaScript (Node.js 22+), SQL (SQLite), HTML / CSS.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Фреймворк: Express (REST API).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Процес розробки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Аналіз предметної галузі → проєктування (UML, база даних) → реалізація → тестування → впровадження.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Генерація звітів реалізована власними засобами без зовнішніх бібліотек — повна автономність.</a:t>
            </a: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Дизайн системи</a:t>
            </a:r>
            <a:endParaRPr sz="3200" dirty="0"/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283725" y="1225225"/>
            <a:ext cx="8520600" cy="6400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sz="1400" b="0">
                <a:solidFill>
                  <a:srgbClr val="24314A"/>
                </a:solidFill>
                <a:latin typeface="Arial"/>
              </a:rPr>
              <a:t>Проєктування засобами UML: діаграма прецедентів (актори та функції) та діаграма послідовності (взаємодія клієнт – сервер – база даних).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pic>
        <p:nvPicPr>
          <p:cNvPr id="116" name="Picture 115" descr="01-use-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03120"/>
            <a:ext cx="2753591" cy="219456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48640" y="43708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Діаграма прецедентів</a:t>
            </a:r>
          </a:p>
        </p:txBody>
      </p:sp>
      <p:pic>
        <p:nvPicPr>
          <p:cNvPr id="118" name="Picture 117" descr="06-seq-add-public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103120"/>
            <a:ext cx="2256760" cy="219456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4846320" y="43708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Діаграма послідовності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Приклад реалізації</a:t>
            </a:r>
            <a:endParaRPr sz="3200" dirty="0"/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6400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sz="1400" b="0">
                <a:solidFill>
                  <a:srgbClr val="24314A"/>
                </a:solidFill>
                <a:latin typeface="Arial"/>
              </a:rPr>
              <a:t>Обчислення обсягу в авторських аркушах із нескоротним дробом (через найбільший спільний дільник):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sp>
        <p:nvSpPr>
          <p:cNvPr id="123" name="TextBox 122"/>
          <p:cNvSpPr txBox="1"/>
          <p:nvPr/>
        </p:nvSpPr>
        <p:spPr>
          <a:xfrm>
            <a:off x="548640" y="2240280"/>
            <a:ext cx="4572000" cy="2103120"/>
          </a:xfrm>
          <a:prstGeom prst="rect">
            <a:avLst/>
          </a:prstGeom>
          <a:solidFill>
            <a:srgbClr val="F1F4F8"/>
          </a:solidFill>
          <a:ln w="9525">
            <a:solidFill>
              <a:srgbClr val="C8D3DF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const gcd = (a, b) =&gt; b ? gcd(b, a % b) : a;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const sheetsOf = (pages) =&gt;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  const g = gcd(pages, 12) || 1;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  return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    decimal: +(pages/12).toFixed(2),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    fraction: `${pages/g}/${12/g}`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1A2A3A"/>
                </a:solidFill>
                <a:latin typeface="Consolas"/>
              </a:rPr>
              <a:t>};</a:t>
            </a:r>
          </a:p>
        </p:txBody>
      </p:sp>
      <p:pic>
        <p:nvPicPr>
          <p:cNvPr id="124" name="Picture 123" descr="05-cl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828800"/>
            <a:ext cx="2216721" cy="2697480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5486400" y="45537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Діаграма класів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Інтерфейс користувача 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5486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400" b="0">
                <a:solidFill>
                  <a:srgbClr val="24314A"/>
                </a:solidFill>
                <a:latin typeface="Arial"/>
              </a:rPr>
              <a:t>Односторінковий інтерфейс із вкладками. Основні екрани: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130" name="Picture 129" descr="screen-public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965960"/>
            <a:ext cx="2247685" cy="256032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554480" y="45537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Публікації: пошук і фільтри</a:t>
            </a:r>
          </a:p>
        </p:txBody>
      </p:sp>
      <p:pic>
        <p:nvPicPr>
          <p:cNvPr id="132" name="Picture 131" descr="screen-repo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1965960"/>
            <a:ext cx="1649496" cy="2560320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5394960" y="45537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Звіти та експорт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Тестування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502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500" b="0">
                <a:solidFill>
                  <a:srgbClr val="24314A"/>
                </a:solidFill>
                <a:latin typeface="Arial"/>
              </a:rPr>
              <a:t>Функціональне тестування за сценаріями використання: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457200" y="1874519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Сценарій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Очікуваний результат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Додавання публікації зі співавторами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Запис збережено; аркуші обчислено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Arial"/>
                        </a:rPr>
                        <a:t>Пройдено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Пошук і фільтрація публікацій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Відбір за ознаками коректний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Arial"/>
                        </a:rPr>
                        <a:t>Пройдено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Формування та експорт звіту (.xlsx/.docx)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Файл сформовано за зразком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Arial"/>
                        </a:rPr>
                        <a:t>Пройдено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Зміна ПІБ автора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Історія збережена, звʼязки збережені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Arial"/>
                        </a:rPr>
                        <a:t>Пройдено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Розмежування доступу за ролями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14A"/>
                          </a:solidFill>
                          <a:latin typeface="Arial"/>
                        </a:rPr>
                        <a:t>Дії обмежено згідно з роллю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Arial"/>
                        </a:rPr>
                        <a:t>Пройдено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Публікація результатів </a:t>
            </a:r>
            <a:endParaRPr sz="3200" dirty="0"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>
                <a:solidFill>
                  <a:srgbClr val="24314A"/>
                </a:solidFill>
                <a:latin typeface="Arial"/>
              </a:rPr>
              <a:t>Працездатний застосунок продемонстровано: відеозапис роботи та демонстрація на захисті.</a:t>
            </a:r>
            <a:endParaRPr dirty="0"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4314A"/>
                </a:solidFill>
                <a:latin typeface="Arial"/>
              </a:rPr>
              <a:t>У межах курсового проєкту окрему наукову публікацію не передбачено.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4314A"/>
                </a:solidFill>
                <a:latin typeface="Arial"/>
              </a:rPr>
              <a:t>Можливий напрям — апробація результатів у вигляді тез доповіді на студентській конференції.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B10B47-7B7A-16D3-B2F7-7BCD981C8FD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88973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>
                <a:solidFill>
                  <a:srgbClr val="24314A"/>
                </a:solidFill>
                <a:latin typeface="Arial"/>
              </a:rPr>
              <a:t>Розроблено працездатний локальний застосунок обліку публікацій кафедри.</a:t>
            </a:r>
            <a:endParaRPr lang="uk" dirty="0" smtClean="0"/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Корисність: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дані вводяться один раз, звітні форми формуються автоматично — менше часу й помилок у щорічній звітності.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Можливості використання: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ведення обліку та формування 15 звітних форм кафедри з експортом у Office.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Подальший розвиток: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мережева версія з HTTPS, інтеграція з ORCID / Scopus API, розширення набору звітів.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701</Words>
  <Application>Microsoft Office PowerPoint</Application>
  <PresentationFormat>On-screen Show (16:9)</PresentationFormat>
  <Paragraphs>105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Consolas</vt:lpstr>
      <vt:lpstr>Economica</vt:lpstr>
      <vt:lpstr>Open Sans</vt:lpstr>
      <vt:lpstr>Arial</vt:lpstr>
      <vt:lpstr>Шаблон презентації кваліфікаційної роботи магістрів</vt:lpstr>
      <vt:lpstr>Програмний застосунок обліку публікацій викладачів і студентів</vt:lpstr>
      <vt:lpstr>Мета роботи</vt:lpstr>
      <vt:lpstr>Аналіз проблеми (аналіз існуючих рішень) </vt:lpstr>
      <vt:lpstr>Постановка задачі та опис системи</vt:lpstr>
      <vt:lpstr>Вибір технологій розробки </vt:lpstr>
      <vt:lpstr>Архітектура створенного програмного забезпечення</vt:lpstr>
      <vt:lpstr>Опис програмного забезпечення, що було використано у дослідженні</vt:lpstr>
      <vt:lpstr>Дизайн системи</vt:lpstr>
      <vt:lpstr>Приклад реалізації</vt:lpstr>
      <vt:lpstr>Інтерфейс користувача </vt:lpstr>
      <vt:lpstr>Тестування</vt:lpstr>
      <vt:lpstr>Публікація результатів 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UserHome</cp:lastModifiedBy>
  <cp:revision>3</cp:revision>
  <dcterms:created xsi:type="dcterms:W3CDTF">2024-10-03T11:39:34Z</dcterms:created>
  <dcterms:modified xsi:type="dcterms:W3CDTF">2026-06-23T18:33:21Z</dcterms:modified>
</cp:coreProperties>
</file>