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</p:sldIdLst>
  <p:sldSz cx="9144000" cy="5143500" type="screen16x9"/>
  <p:notesSz cx="6858000" cy="9144000"/>
  <p:embeddedFontLst>
    <p:embeddedFont>
      <p:font typeface="Economica" panose="020B0604020202020204" charset="0"/>
      <p:regular r:id="rId14"/>
      <p:bold r:id="rId15"/>
      <p:italic r:id="rId16"/>
      <p:boldItalic r:id="rId17"/>
    </p:embeddedFont>
    <p:embeddedFont>
      <p:font typeface="Consolas" panose="020B0609020204030204" pitchFamily="49" charset="0"/>
      <p:regular r:id="rId18"/>
      <p:bold r:id="rId19"/>
      <p:italic r:id="rId20"/>
      <p:boldItalic r:id="rId21"/>
    </p:embeddedFont>
    <p:embeddedFont>
      <p:font typeface="Open Sans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15" d="100"/>
          <a:sy n="115" d="100"/>
        </p:scale>
        <p:origin x="-198" y="23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101374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0ddf966691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0ddf966691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6b2adad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2e16b2adad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16b2adad1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e16b2adad1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e16b2adad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e16b2adad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e16b2adad1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e16b2adad1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e16b2adad1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e16b2adad1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e16b2adad1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e16b2adad1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e16b2adad1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e16b2adad1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6b2adad1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16b2adad1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r>
              <a:rPr lang="ru-RU" smtClean="0"/>
              <a:t>Образец заголовка</a:t>
            </a:r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r>
              <a:rPr lang="ru-RU" smtClean="0"/>
              <a:t>Образец подзаголовка</a:t>
            </a:r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2377440" y="868680"/>
            <a:ext cx="6035040" cy="1554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2600" dirty="0"/>
              <a:t>Програмний застосунок обліку публікацій викладачів і студентів</a:t>
            </a:r>
            <a:endParaRPr sz="2400"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1948250" y="3635125"/>
            <a:ext cx="5087400" cy="15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600">
                <a:solidFill>
                  <a:srgbClr val="24314A"/>
                </a:solidFill>
                <a:latin typeface="Arial"/>
              </a:rPr>
              <a:t>Виконав: Боков Віталій, група ПЗПІ-23-2</a:t>
            </a:r>
            <a:endParaRPr dirty="0"/>
          </a:p>
          <a:p>
            <a:r>
              <a:rPr sz="1600">
                <a:solidFill>
                  <a:srgbClr val="24314A"/>
                </a:solidFill>
                <a:latin typeface="Arial"/>
              </a:rPr>
              <a:t>Керівник: проф., к.т.н. Володимир Кобзєв</a:t>
            </a:r>
          </a:p>
          <a:p>
            <a:r>
              <a:rPr sz="1600">
                <a:solidFill>
                  <a:srgbClr val="24314A"/>
                </a:solidFill>
                <a:latin typeface="Arial"/>
              </a:rPr>
              <a:t>червня 2026</a:t>
            </a:r>
          </a:p>
        </p:txBody>
      </p:sp>
      <p:pic>
        <p:nvPicPr>
          <p:cNvPr id="64" name="Google Shape;6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4725" y="170825"/>
            <a:ext cx="2133975" cy="38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68504" y="170825"/>
            <a:ext cx="1924921" cy="43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Проблема, актуальність та мета роботи</a:t>
            </a:r>
            <a:endParaRPr sz="3200" dirty="0"/>
          </a:p>
        </p:txBody>
      </p:sp>
      <p:sp>
        <p:nvSpPr>
          <p:cNvPr id="72" name="Google Shape;72;p1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200"/>
              </a:spcBef>
              <a:spcAft>
                <a:spcPts val="600"/>
              </a:spcAft>
              <a:buNone/>
            </a:pPr>
            <a:r>
              <a:rPr sz="1600" b="1">
                <a:solidFill>
                  <a:srgbClr val="24314A"/>
                </a:solidFill>
                <a:latin typeface="Arial"/>
              </a:rPr>
              <a:t>Проблема й актуальність</a:t>
            </a:r>
            <a:endParaRPr dirty="0">
              <a:latin typeface="Economica" panose="020B0604020202020204" charset="0"/>
            </a:endParaRP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314A"/>
                </a:solidFill>
                <a:latin typeface="Arial"/>
              </a:rPr>
              <a:t>Кафедра щороку звітує про наукову діяльність за формами I–IX. Облік і формування звітів виконуються вручну: дублювання даних, помилки, трудомісткі обчислення (авторські аркуші, вік до 35, Scopus / WoS) і значні витрати часу.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24314A"/>
                </a:solidFill>
                <a:latin typeface="Arial"/>
              </a:rPr>
              <a:t>Мета роботи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24314A"/>
                </a:solidFill>
                <a:latin typeface="Arial"/>
              </a:rPr>
              <a:t>Розробити локальний застосунок для ведення єдиної бази публікацій та авторів і автоматичного формування звітних форм кафедри з пошуком, фільтрацією та експортом.</a:t>
            </a: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93E68CA-DEF7-D32D-BFB6-7B402335F4C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2</a:t>
            </a:fld>
            <a:endParaRPr lang="uk-UA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311700" y="-124863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Переваги і недоліки існуючих аналогів</a:t>
            </a:r>
            <a:endParaRPr sz="3200" dirty="0"/>
          </a:p>
        </p:txBody>
      </p:sp>
      <p:sp>
        <p:nvSpPr>
          <p:cNvPr id="79" name="Google Shape;79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24314A"/>
                </a:solidFill>
                <a:latin typeface="Arial"/>
              </a:rPr>
              <a:t>Наукометричні бази (Scopus, Web of Science)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4314A"/>
                </a:solidFill>
                <a:latin typeface="Arial"/>
              </a:rPr>
              <a:t>+ облік цитувань;  – за автором, не за кафедрою; лише проіндексовані видання; потрібна мережа.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314A"/>
                </a:solidFill>
                <a:latin typeface="Arial"/>
              </a:rPr>
              <a:t>Інституційні репозиторії (DSpace, Pure)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4314A"/>
                </a:solidFill>
                <a:latin typeface="Arial"/>
              </a:rPr>
              <a:t>+ централізоване зберігання;  – важкі в розгортанні; форми не збігаються з формами кафедри.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314A"/>
                </a:solidFill>
                <a:latin typeface="Arial"/>
              </a:rPr>
              <a:t>Електронні таблиці (Excel)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24314A"/>
                </a:solidFill>
                <a:latin typeface="Arial"/>
              </a:rPr>
              <a:t>+ доступні й гнучкі;  – дублювання, без зв’язків і контролю цілісності, ручні обчислення.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24314A"/>
                </a:solidFill>
                <a:latin typeface="Arial"/>
              </a:rPr>
              <a:t>Висновок: жодне рішення не формує звітні форми кафедри автономно — обґрунтовано власну розробку.</a:t>
            </a: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62475D-5E0B-A5AC-3922-2970FC56A64D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3</a:t>
            </a:fld>
            <a:endParaRPr lang="uk-UA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>
            <a:spLocks noGrp="1"/>
          </p:cNvSpPr>
          <p:nvPr>
            <p:ph type="title"/>
          </p:nvPr>
        </p:nvSpPr>
        <p:spPr>
          <a:xfrm>
            <a:off x="311700" y="-186276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Постановка задач, вимоги та обмеження</a:t>
            </a:r>
            <a:endParaRPr sz="3200" dirty="0"/>
          </a:p>
        </p:txBody>
      </p:sp>
      <p:sp>
        <p:nvSpPr>
          <p:cNvPr id="86" name="Google Shape;86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24314A"/>
                </a:solidFill>
                <a:latin typeface="Arial"/>
              </a:rPr>
              <a:t>Задачі та вимоги: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єдина база публікацій, авторів та інших результатів з повним CRUD;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автоматичні обчислення (авторські аркуші, вік до 35, ознаки Scopus / WoS);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формування 15 звітних форм з експортом у Excel і Word; пошук, фільтрація, пейджинг;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розмежування доступу за ролями; автономна офлайн-робота (x64 / ARM64).</a:t>
            </a: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4314A"/>
                </a:solidFill>
                <a:latin typeface="Arial"/>
              </a:rPr>
              <a:t>Обмеження: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однокористувацький локальний режим; обмін HTTP на localhost без TLS (навчальний сценарій).</a:t>
            </a:r>
          </a:p>
        </p:txBody>
      </p:sp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3D9805-068E-FE7E-BC9A-0C410D68B73B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4</a:t>
            </a:fld>
            <a:endParaRPr lang="uk-UA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311700" y="-14830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Проєктування: діаграма прецедентів</a:t>
            </a:r>
            <a:endParaRPr sz="3200" dirty="0"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500"/>
              </a:spcBef>
              <a:spcAft>
                <a:spcPts val="0"/>
              </a:spcAft>
              <a:buNone/>
            </a:pP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94" name="Google Shape;9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343E912-C721-1128-5F72-D9BB9BCF5CCA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5</a:t>
            </a:fld>
            <a:endParaRPr lang="uk-UA" dirty="0"/>
          </a:p>
        </p:txBody>
      </p:sp>
      <p:pic>
        <p:nvPicPr>
          <p:cNvPr id="95" name="Picture 94" descr="01-use-c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1463040"/>
            <a:ext cx="4015653" cy="3200400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1371600" y="4736592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Діаграма прецедентів (UML): актори та функції системи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268925" y="349659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Проєктування: архітектура системи</a:t>
            </a:r>
            <a:endParaRPr sz="3200" dirty="0"/>
          </a:p>
        </p:txBody>
      </p:sp>
      <p:sp>
        <p:nvSpPr>
          <p:cNvPr id="100" name="Google Shape;100;p18"/>
          <p:cNvSpPr txBox="1">
            <a:spLocks noGrp="1"/>
          </p:cNvSpPr>
          <p:nvPr>
            <p:ph type="body" idx="1"/>
          </p:nvPr>
        </p:nvSpPr>
        <p:spPr>
          <a:xfrm>
            <a:off x="311700" y="1453900"/>
            <a:ext cx="8520600" cy="640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24314A"/>
                </a:solidFill>
                <a:latin typeface="Arial"/>
              </a:rPr>
              <a:t>Трирівнева клієнт-серверна архітектура: клієнт (браузер) — сервер (Node.js / Express) — база SQLite; обмін HTTP / JSON, локально.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01" name="Google Shape;10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A55726-B906-08A2-C43F-1B00FCF5F354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6</a:t>
            </a:fld>
            <a:endParaRPr lang="uk-UA" dirty="0"/>
          </a:p>
        </p:txBody>
      </p:sp>
      <p:pic>
        <p:nvPicPr>
          <p:cNvPr id="102" name="Picture 101" descr="02-compon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148840"/>
            <a:ext cx="2049715" cy="2395728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3108960" y="4572000"/>
            <a:ext cx="2926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Діаграма компонентів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>
            <a:spLocks noGrp="1"/>
          </p:cNvSpPr>
          <p:nvPr>
            <p:ph type="title"/>
          </p:nvPr>
        </p:nvSpPr>
        <p:spPr>
          <a:xfrm>
            <a:off x="311700" y="31240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/>
              <a:t>Проєктування: схема бази даних</a:t>
            </a:r>
            <a:endParaRPr sz="3200"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311700" y="1477100"/>
            <a:ext cx="8520600" cy="5486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24314A"/>
                </a:solidFill>
                <a:latin typeface="Arial"/>
              </a:rPr>
              <a:t>Реляційна модель даних (нотація «сутність — зв’язок») із первинними та зовнішніми ключами і кратностями зв’язків:</a:t>
            </a:r>
            <a:endParaRPr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08" name="Google Shape;10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226AFC1-F793-030A-440F-FC50C3AEF71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7</a:t>
            </a:fld>
            <a:endParaRPr lang="uk-UA" dirty="0"/>
          </a:p>
        </p:txBody>
      </p:sp>
      <p:pic>
        <p:nvPicPr>
          <p:cNvPr id="109" name="Picture 108" descr="04-er-mode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828800"/>
            <a:ext cx="1415129" cy="2743200"/>
          </a:xfrm>
          <a:prstGeom prst="rect">
            <a:avLst/>
          </a:prstGeom>
        </p:spPr>
      </p:pic>
      <p:sp>
        <p:nvSpPr>
          <p:cNvPr id="110" name="TextBox 109"/>
          <p:cNvSpPr txBox="1"/>
          <p:nvPr/>
        </p:nvSpPr>
        <p:spPr>
          <a:xfrm>
            <a:off x="2286000" y="461772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Схема бази даних (ER-модель)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>
            <a:spLocks noGrp="1"/>
          </p:cNvSpPr>
          <p:nvPr>
            <p:ph type="title"/>
          </p:nvPr>
        </p:nvSpPr>
        <p:spPr>
          <a:xfrm>
            <a:off x="311700" y="-9203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Проєктування: діаграма послідовності</a:t>
            </a:r>
            <a:endParaRPr sz="3200" dirty="0"/>
          </a:p>
        </p:txBody>
      </p:sp>
      <p:sp>
        <p:nvSpPr>
          <p:cNvPr id="114" name="Google Shape;114;p20"/>
          <p:cNvSpPr txBox="1">
            <a:spLocks noGrp="1"/>
          </p:cNvSpPr>
          <p:nvPr>
            <p:ph type="body" idx="1"/>
          </p:nvPr>
        </p:nvSpPr>
        <p:spPr>
          <a:xfrm>
            <a:off x="283725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Economica" panose="020B0604020202020204" charset="0"/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624834-013E-7249-F488-C816A0DA9355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8</a:t>
            </a:fld>
            <a:endParaRPr lang="uk-UA" dirty="0"/>
          </a:p>
        </p:txBody>
      </p:sp>
      <p:pic>
        <p:nvPicPr>
          <p:cNvPr id="116" name="Picture 115" descr="06-seq-add-public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1417320"/>
            <a:ext cx="3338125" cy="3246120"/>
          </a:xfrm>
          <a:prstGeom prst="rect">
            <a:avLst/>
          </a:prstGeom>
        </p:spPr>
      </p:pic>
      <p:sp>
        <p:nvSpPr>
          <p:cNvPr id="117" name="TextBox 116"/>
          <p:cNvSpPr txBox="1"/>
          <p:nvPr/>
        </p:nvSpPr>
        <p:spPr>
          <a:xfrm>
            <a:off x="1645920" y="4736592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Діаграма послідовності: додавання публікації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268925" y="-152998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Інтерфейсні форми застосунку</a:t>
            </a:r>
            <a:endParaRPr sz="3200" dirty="0"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5029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24314A"/>
                </a:solidFill>
                <a:latin typeface="Arial"/>
              </a:rPr>
              <a:t>Основні екранні форми (заповнені даними): перелік публікацій із пошуком та звіти з експортом.</a:t>
            </a:r>
            <a:endParaRPr dirty="0">
              <a:latin typeface="Economica" panose="020B0604020202020204" charset="0"/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800C66-AABB-EFA8-12F4-0C56A1243712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9</a:t>
            </a:fld>
            <a:endParaRPr lang="uk-UA" dirty="0"/>
          </a:p>
        </p:txBody>
      </p:sp>
      <p:pic>
        <p:nvPicPr>
          <p:cNvPr id="123" name="Picture 122" descr="screen-public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1920240"/>
            <a:ext cx="2368096" cy="269748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14400" y="4663440"/>
            <a:ext cx="3017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Вкладка «Публікації»</a:t>
            </a:r>
          </a:p>
        </p:txBody>
      </p:sp>
      <p:pic>
        <p:nvPicPr>
          <p:cNvPr id="125" name="Picture 124" descr="screen-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920240"/>
            <a:ext cx="1737861" cy="2697480"/>
          </a:xfrm>
          <a:prstGeom prst="rect">
            <a:avLst/>
          </a:prstGeom>
        </p:spPr>
      </p:pic>
      <p:sp>
        <p:nvSpPr>
          <p:cNvPr id="126" name="TextBox 125"/>
          <p:cNvSpPr txBox="1"/>
          <p:nvPr/>
        </p:nvSpPr>
        <p:spPr>
          <a:xfrm>
            <a:off x="5394960" y="46634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i="1">
                <a:solidFill>
                  <a:srgbClr val="607D8B"/>
                </a:solidFill>
                <a:latin typeface="Arial"/>
              </a:rPr>
              <a:t>Вкладка «Звіти»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Фрагменти коду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6400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24314A"/>
                </a:solidFill>
                <a:latin typeface="Arial"/>
              </a:rPr>
              <a:t>Обчислення обсягу в авторських аркушах із нескоротним дробом (через найбільший спільний дільник):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10</a:t>
            </a:fld>
            <a:endParaRPr lang="uk-UA" dirty="0"/>
          </a:p>
        </p:txBody>
      </p:sp>
      <p:sp>
        <p:nvSpPr>
          <p:cNvPr id="130" name="TextBox 129"/>
          <p:cNvSpPr txBox="1"/>
          <p:nvPr/>
        </p:nvSpPr>
        <p:spPr>
          <a:xfrm>
            <a:off x="548640" y="2286000"/>
            <a:ext cx="8046720" cy="1737360"/>
          </a:xfrm>
          <a:prstGeom prst="rect">
            <a:avLst/>
          </a:prstGeom>
          <a:solidFill>
            <a:srgbClr val="F1F4F8"/>
          </a:solidFill>
          <a:ln w="9525">
            <a:solidFill>
              <a:srgbClr val="C8D3DF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const gcd = (a, b) =&gt; b ? gcd(b, a % b) : a;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const sheetsOf = (pages) =&gt; {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  const g = gcd(pages, 12) || 1;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  return { decimal: +(pages/12).toFixed(2),       // напр. 6 стор. → 0.5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           fraction: `${pages/g}/${12/g}` };       // напр. 6 стор. → 1/2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1A2A3A"/>
                </a:solidFill>
                <a:latin typeface="Consolas"/>
              </a:rPr>
              <a:t>};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607D8B"/>
                </a:solidFill>
                <a:latin typeface="Arial"/>
              </a:rPr>
              <a:t>Бізнес-логіка обчислюється на сервері (модуль server/api.js).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268925" y="-143620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uk" sz="3200" dirty="0" smtClean="0"/>
              <a:t>Висновки</a:t>
            </a:r>
            <a:endParaRPr sz="3200" dirty="0"/>
          </a:p>
        </p:txBody>
      </p:sp>
      <p:sp>
        <p:nvSpPr>
          <p:cNvPr id="128" name="Google Shape;128;p22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indent="0" algn="l" rtl="0">
              <a:spcBef>
                <a:spcPts val="1500"/>
              </a:spcBef>
              <a:spcAft>
                <a:spcPts val="600"/>
              </a:spcAft>
              <a:buNone/>
            </a:pPr>
            <a:r>
              <a:rPr sz="1500" b="0">
                <a:solidFill>
                  <a:srgbClr val="24314A"/>
                </a:solidFill>
                <a:latin typeface="Arial"/>
              </a:rPr>
              <a:t>Створено працездатний локальний застосунок обліку публікацій кафедри.</a:t>
            </a:r>
            <a:endParaRPr dirty="0">
              <a:solidFill>
                <a:srgbClr val="0D0D0D"/>
              </a:solidFill>
              <a:highlight>
                <a:srgbClr val="FFFFFF"/>
              </a:highlight>
              <a:latin typeface="Economica" panose="020B0604020202020204" charset="0"/>
            </a:endParaRPr>
          </a:p>
          <a:p>
            <a:pPr>
              <a:spcAft>
                <a:spcPts val="600"/>
              </a:spcAft>
            </a:pPr>
            <a:r>
              <a:rPr sz="1500" b="1">
                <a:solidFill>
                  <a:srgbClr val="24314A"/>
                </a:solidFill>
                <a:latin typeface="Arial"/>
              </a:rPr>
              <a:t>Реалізовані можливості: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повний CRUD для публікацій, авторів, виставок, патентів і розробок;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автоматичні обчислення та формування 15 звітних форм з експортом у Excel і Word;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пошук, фільтрація, пейджинг; розмежування доступу за ролями;</a:t>
            </a:r>
          </a:p>
          <a:p>
            <a:pPr lvl="1"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автономна офлайн-робота (x64 / ARM64).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4314A"/>
                </a:solidFill>
                <a:latin typeface="Arial"/>
              </a:rPr>
              <a:t>Дані вводяться один раз, звіти формуються автоматично — менше часу й помилок у щорічній звітності.</a:t>
            </a:r>
          </a:p>
        </p:txBody>
      </p:sp>
      <p:pic>
        <p:nvPicPr>
          <p:cNvPr id="129" name="Google Shape;1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925" y="4359500"/>
            <a:ext cx="862250" cy="58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28D948D-369C-B702-98D8-76BFF8794D17}"/>
              </a:ext>
            </a:extLst>
          </p:cNvPr>
          <p:cNvSpPr txBox="1"/>
          <p:nvPr/>
        </p:nvSpPr>
        <p:spPr>
          <a:xfrm>
            <a:off x="8778240" y="4606349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A35EEF41-5B9E-4186-8855-3C8162DCC2D6}" type="slidenum">
              <a:rPr lang="uk-UA" smtClean="0"/>
              <a:t>11</a:t>
            </a:fld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422119"/>
      </p:ext>
    </p:extLst>
  </p:cSld>
  <p:clrMapOvr>
    <a:masterClrMapping/>
  </p:clrMapOvr>
</p:sld>
</file>

<file path=ppt/theme/theme1.xml><?xml version="1.0" encoding="utf-8"?>
<a:theme xmlns:a="http://schemas.openxmlformats.org/drawingml/2006/main" name="Шаблон презентації кваліфікаційної роботи магістрів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презентації кваліфікаційної роботи магістрів" id="{72E840FA-3155-46C9-BB37-701E4C9B1C67}" vid="{DC416FE5-D050-4603-AD75-8F49A0CCCB6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568</Words>
  <Application>Microsoft Office PowerPoint</Application>
  <PresentationFormat>On-screen Show (16:9)</PresentationFormat>
  <Paragraphs>66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Economica</vt:lpstr>
      <vt:lpstr>Consolas</vt:lpstr>
      <vt:lpstr>Open Sans</vt:lpstr>
      <vt:lpstr>Arial</vt:lpstr>
      <vt:lpstr>Шаблон презентації кваліфікаційної роботи магістрів</vt:lpstr>
      <vt:lpstr>Програмний застосунок обліку публікацій викладачів і студентів</vt:lpstr>
      <vt:lpstr>Проблема, актуальність та мета роботи</vt:lpstr>
      <vt:lpstr>Переваги і недоліки існуючих аналогів</vt:lpstr>
      <vt:lpstr>Постановка задач, вимоги та обмеження</vt:lpstr>
      <vt:lpstr>Проєктування: діаграма прецедентів</vt:lpstr>
      <vt:lpstr>Проєктування: архітектура системи</vt:lpstr>
      <vt:lpstr>Проєктування: схема бази даних</vt:lpstr>
      <vt:lpstr>Проєктування: діаграма послідовності</vt:lpstr>
      <vt:lpstr>Інтерфейсні форми застосунку</vt:lpstr>
      <vt:lpstr>Фрагменти коду</vt:lpstr>
      <vt:lpstr>Висновки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роботи</dc:title>
  <dc:creator>Lexin</dc:creator>
  <cp:lastModifiedBy>UserHome</cp:lastModifiedBy>
  <cp:revision>3</cp:revision>
  <dcterms:created xsi:type="dcterms:W3CDTF">2024-10-03T11:39:34Z</dcterms:created>
  <dcterms:modified xsi:type="dcterms:W3CDTF">2026-06-25T12:43:21Z</dcterms:modified>
</cp:coreProperties>
</file>