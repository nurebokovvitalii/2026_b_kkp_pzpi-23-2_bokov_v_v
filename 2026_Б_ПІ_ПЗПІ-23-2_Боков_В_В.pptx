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9" r:id="rId13"/>
  </p:sldIdLst>
  <p:sldSz cx="9144000" cy="5143500" type="screen16x9"/>
  <p:notesSz cx="6858000" cy="9144000"/>
  <p:embeddedFontLst>
    <p:embeddedFont>
      <p:font typeface="Economica" panose="020B0604020202020204" charset="0"/>
      <p:regular r:id="rId15"/>
      <p:bold r:id="rId16"/>
      <p:italic r:id="rId17"/>
      <p:boldItalic r:id="rId18"/>
    </p:embeddedFont>
    <p:embeddedFont>
      <p:font typeface="Consolas" panose="020B0609020204030204" pitchFamily="49" charset="0"/>
      <p:regular r:id="rId19"/>
      <p:bold r:id="rId20"/>
      <p:italic r:id="rId21"/>
      <p:boldItalic r:id="rId22"/>
    </p:embeddedFont>
    <p:embeddedFont>
      <p:font typeface="Open Sans" panose="020B060402020202020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627" y="6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01374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ddf966691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ddf966691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16b2adad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e16b2adad1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e16b2adad1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e16b2adad1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377440" y="868680"/>
            <a:ext cx="6035040" cy="155448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600" dirty="0"/>
              <a:t>Програмний застосунок обліку публікацій викладачів і студентів</a:t>
            </a:r>
            <a:endParaRPr sz="2400"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1948250" y="3635125"/>
            <a:ext cx="5087400" cy="153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4314A"/>
                </a:solidFill>
                <a:latin typeface="Arial"/>
              </a:rPr>
              <a:t>Виконав: Боков Віталій, група ПЗПІ-23-2</a:t>
            </a:r>
            <a:endParaRPr dirty="0"/>
          </a:p>
          <a:p>
            <a:r>
              <a:rPr sz="1600">
                <a:solidFill>
                  <a:srgbClr val="24314A"/>
                </a:solidFill>
                <a:latin typeface="Arial"/>
              </a:rPr>
              <a:t>Керівник: проф., к.т.н. Володимир Кобзєв</a:t>
            </a:r>
          </a:p>
          <a:p>
            <a:r>
              <a:rPr sz="1600">
                <a:solidFill>
                  <a:srgbClr val="24314A"/>
                </a:solidFill>
                <a:latin typeface="Arial"/>
              </a:rPr>
              <a:t>червня 2026</a:t>
            </a:r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Проблема, актуальність та мета роботи</a:t>
            </a:r>
            <a:endParaRPr sz="3200" dirty="0"/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spcBef>
                <a:spcPts val="1200"/>
              </a:spcBef>
              <a:spcAft>
                <a:spcPts val="600"/>
              </a:spcAft>
              <a:buNone/>
            </a:pPr>
            <a:r>
              <a:rPr sz="1600" b="1">
                <a:solidFill>
                  <a:srgbClr val="24314A"/>
                </a:solidFill>
                <a:latin typeface="Arial"/>
              </a:rPr>
              <a:t>Проблема й актуальність</a:t>
            </a:r>
            <a:endParaRPr dirty="0">
              <a:latin typeface="Economica" panose="020B0604020202020204" charset="0"/>
            </a:endParaRP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Кафедра щороку звітує про наукову діяльність за формами I–IX. Облік і формування звітів виконуються вручну: дублювання даних, помилки, трудомісткі обчислення (авторські аркуші, вік до 35, Scopus / WoS) і значні витрати часу.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4314A"/>
                </a:solidFill>
                <a:latin typeface="Arial"/>
              </a:rPr>
              <a:t>Мета роботи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4314A"/>
                </a:solidFill>
                <a:latin typeface="Arial"/>
              </a:rPr>
              <a:t>Розробити локальний застосунок для ведення єдиної бази публікацій та авторів і автоматичного формування звітних форм кафедри з пошуком, фільтрацією та експортом.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Переваги і недоліки існуючих аналогів</a:t>
            </a:r>
            <a:endParaRPr sz="3200" dirty="0"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indent="0" algn="l" rtl="0">
              <a:spcBef>
                <a:spcPts val="1500"/>
              </a:spcBef>
              <a:spcAft>
                <a:spcPts val="600"/>
              </a:spcAft>
              <a:buNone/>
            </a:pPr>
            <a:r>
              <a:rPr sz="1400" b="1">
                <a:solidFill>
                  <a:srgbClr val="24314A"/>
                </a:solidFill>
                <a:latin typeface="Arial"/>
              </a:rPr>
              <a:t>Наукометричні бази (Scopus, Web of Science)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4314A"/>
                </a:solidFill>
                <a:latin typeface="Arial"/>
              </a:rPr>
              <a:t>+ облік цитувань;  – за автором, не за кафедрою; лише проіндексовані видання; потрібна мережа.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4314A"/>
                </a:solidFill>
                <a:latin typeface="Arial"/>
              </a:rPr>
              <a:t>Інституційні репозиторії (DSpace, Pure)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4314A"/>
                </a:solidFill>
                <a:latin typeface="Arial"/>
              </a:rPr>
              <a:t>+ централізоване зберігання;  – важкі в розгортанні; форми не збігаються з формами кафедри.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4314A"/>
                </a:solidFill>
                <a:latin typeface="Arial"/>
              </a:rPr>
              <a:t>Електронні таблиці (Excel)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4314A"/>
                </a:solidFill>
                <a:latin typeface="Arial"/>
              </a:rPr>
              <a:t>+ доступні й гнучкі;  – дублювання, без зв’язків і контролю цілісності, ручні обчислення.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4314A"/>
                </a:solidFill>
                <a:latin typeface="Arial"/>
              </a:rPr>
              <a:t>Висновок: жодне рішення не формує звітні форми кафедри автономно — обґрунтовано власну розробку.</a:t>
            </a:r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3</a:t>
            </a:fld>
            <a:endParaRPr lang="uk-UA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109728"/>
            <a:ext cx="85206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800" dirty="0"/>
              <a:t>Постановка задачі проєкту, вимоги та обмеження</a:t>
            </a:r>
            <a:endParaRPr sz="3200" dirty="0"/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777240"/>
            <a:ext cx="8520600" cy="34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indent="0" algn="l" rtl="0">
              <a:spcBef>
                <a:spcPts val="1500"/>
              </a:spcBef>
              <a:spcAft>
                <a:spcPts val="600"/>
              </a:spcAft>
              <a:buNone/>
            </a:pPr>
            <a:r>
              <a:rPr sz="1400" b="1">
                <a:solidFill>
                  <a:srgbClr val="24314A"/>
                </a:solidFill>
                <a:latin typeface="Arial"/>
              </a:rPr>
              <a:t>Постановка задачі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4314A"/>
                </a:solidFill>
                <a:latin typeface="Arial"/>
              </a:rPr>
              <a:t>Спроєктувати й розробити локальний застосунок, що автоматизує облік наукових публікацій та інших результатів діяльності кафедри і формування звітних форм: дані вводяться один раз, звіти будуються автоматично.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4314A"/>
                </a:solidFill>
                <a:latin typeface="Arial"/>
              </a:rPr>
              <a:t>Вимоги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4314A"/>
                </a:solidFill>
                <a:latin typeface="Arial"/>
              </a:rPr>
              <a:t>єдина база з повним CRUD; автоматичні обчислення (авт. аркуші, вік до 35, Scopus / WoS);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4314A"/>
                </a:solidFill>
                <a:latin typeface="Arial"/>
              </a:rPr>
              <a:t>15 звітних форм з експортом у Excel і Word; пошук, фільтрація, пейджинг; ролі доступу;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4314A"/>
                </a:solidFill>
                <a:latin typeface="Arial"/>
              </a:rPr>
              <a:t>автономна офлайн-робота (x64 / ARM64).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4314A"/>
                </a:solidFill>
                <a:latin typeface="Arial"/>
              </a:rPr>
              <a:t>Обмеження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4314A"/>
                </a:solidFill>
                <a:latin typeface="Arial"/>
              </a:rPr>
              <a:t>однокористувацький локальний режим; обмін HTTP на localhost без TLS (навчальний сценарій).</a:t>
            </a: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4</a:t>
            </a:fld>
            <a:endParaRPr lang="uk-UA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400" dirty="0" smtClean="0"/>
              <a:t>Діаграма прецедентів</a:t>
            </a:r>
            <a:endParaRPr sz="3200" dirty="0"/>
          </a:p>
        </p:txBody>
      </p:sp>
      <p:sp>
        <p:nvSpPr>
          <p:cNvPr id="93" name="Google Shape;93;p17"/>
          <p:cNvSpPr txBox="1">
            <a:spLocks noGrp="1"/>
          </p:cNvSpPr>
          <p:nvPr>
            <p:ph type="body" idx="1"/>
          </p:nvPr>
        </p:nvSpPr>
        <p:spPr>
          <a:xfrm>
            <a:off x="-1828800" y="-1828800"/>
            <a:ext cx="91440" cy="914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5</a:t>
            </a:fld>
            <a:endParaRPr lang="uk-UA" dirty="0"/>
          </a:p>
        </p:txBody>
      </p:sp>
      <p:pic>
        <p:nvPicPr>
          <p:cNvPr id="95" name="Picture 94" descr="01-use-c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120" y="868680"/>
            <a:ext cx="4646685" cy="37033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371600" y="468172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07D8B"/>
                </a:solidFill>
                <a:latin typeface="Arial"/>
              </a:rPr>
              <a:t>Актори та функції системи (UML)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400" dirty="0"/>
              <a:t>Архітектура системи</a:t>
            </a:r>
            <a:endParaRPr sz="3200" dirty="0"/>
          </a:p>
        </p:txBody>
      </p:sp>
      <p:sp>
        <p:nvSpPr>
          <p:cNvPr id="100" name="Google Shape;100;p18"/>
          <p:cNvSpPr txBox="1">
            <a:spLocks noGrp="1"/>
          </p:cNvSpPr>
          <p:nvPr>
            <p:ph type="body" idx="1"/>
          </p:nvPr>
        </p:nvSpPr>
        <p:spPr>
          <a:xfrm>
            <a:off x="-1828800" y="-1828800"/>
            <a:ext cx="91440" cy="914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6</a:t>
            </a:fld>
            <a:endParaRPr lang="uk-UA" dirty="0"/>
          </a:p>
        </p:txBody>
      </p:sp>
      <p:sp>
        <p:nvSpPr>
          <p:cNvPr id="102" name="TextBox 101"/>
          <p:cNvSpPr txBox="1"/>
          <p:nvPr/>
        </p:nvSpPr>
        <p:spPr>
          <a:xfrm>
            <a:off x="365760" y="1051560"/>
            <a:ext cx="27432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4314A"/>
                </a:solidFill>
                <a:latin typeface="Arial"/>
              </a:rPr>
              <a:t>Трирівнева клієнт-серверна архітектура: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4314A"/>
                </a:solidFill>
                <a:latin typeface="Arial"/>
              </a:rPr>
              <a:t>клієнт — браузер (HTML/CSS/JS);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4314A"/>
                </a:solidFill>
                <a:latin typeface="Arial"/>
              </a:rPr>
              <a:t>сервер — Node.js / Express;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4314A"/>
                </a:solidFill>
                <a:latin typeface="Arial"/>
              </a:rPr>
              <a:t>дані — вбудована СУБД SQLite.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4314A"/>
                </a:solidFill>
                <a:latin typeface="Arial"/>
              </a:rPr>
              <a:t>Обмін — HTTP / JSON, локально.</a:t>
            </a:r>
          </a:p>
        </p:txBody>
      </p:sp>
      <p:pic>
        <p:nvPicPr>
          <p:cNvPr id="103" name="Picture 102" descr="02-compon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841248"/>
            <a:ext cx="3324919" cy="3886200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3383280" y="4773168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07D8B"/>
                </a:solidFill>
                <a:latin typeface="Arial"/>
              </a:rPr>
              <a:t>Діаграма компонентів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31240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400" dirty="0"/>
              <a:t>Схема бази даних</a:t>
            </a:r>
            <a:endParaRPr sz="3200" dirty="0"/>
          </a:p>
        </p:txBody>
      </p:sp>
      <p:sp>
        <p:nvSpPr>
          <p:cNvPr id="107" name="Google Shape;107;p19"/>
          <p:cNvSpPr txBox="1">
            <a:spLocks noGrp="1"/>
          </p:cNvSpPr>
          <p:nvPr>
            <p:ph type="body" idx="1"/>
          </p:nvPr>
        </p:nvSpPr>
        <p:spPr>
          <a:xfrm>
            <a:off x="-1828800" y="-1828800"/>
            <a:ext cx="91440" cy="914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endParaRPr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26AFC1-F793-030A-440F-FC50C3AEF71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7</a:t>
            </a:fld>
            <a:endParaRPr lang="uk-UA" dirty="0"/>
          </a:p>
        </p:txBody>
      </p:sp>
      <p:sp>
        <p:nvSpPr>
          <p:cNvPr id="109" name="TextBox 108"/>
          <p:cNvSpPr txBox="1"/>
          <p:nvPr/>
        </p:nvSpPr>
        <p:spPr>
          <a:xfrm>
            <a:off x="365760" y="1051560"/>
            <a:ext cx="25603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4314A"/>
                </a:solidFill>
                <a:latin typeface="Arial"/>
              </a:rPr>
              <a:t>Реляційна модель (ER):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4314A"/>
                </a:solidFill>
                <a:latin typeface="Arial"/>
              </a:rPr>
              <a:t>сутності з ключами PK / FK;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4314A"/>
                </a:solidFill>
                <a:latin typeface="Arial"/>
              </a:rPr>
              <a:t>зв’язок «багато-до-багатьох» Публікація–Автор через асоціативну сутність;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4314A"/>
                </a:solidFill>
                <a:latin typeface="Arial"/>
              </a:rPr>
              <a:t>нормалізація до 3НФ, контроль цілісності.</a:t>
            </a:r>
          </a:p>
        </p:txBody>
      </p:sp>
      <p:pic>
        <p:nvPicPr>
          <p:cNvPr id="110" name="Picture 109" descr="04-er-mod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822960"/>
            <a:ext cx="2028352" cy="3931920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3108960" y="480060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07D8B"/>
                </a:solidFill>
                <a:latin typeface="Arial"/>
              </a:rPr>
              <a:t>ER-модель даних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400" dirty="0" smtClean="0"/>
              <a:t>Діаграма послідовності</a:t>
            </a:r>
            <a:endParaRPr sz="3200" dirty="0"/>
          </a:p>
        </p:txBody>
      </p:sp>
      <p:sp>
        <p:nvSpPr>
          <p:cNvPr id="114" name="Google Shape;114;p20"/>
          <p:cNvSpPr txBox="1">
            <a:spLocks noGrp="1"/>
          </p:cNvSpPr>
          <p:nvPr>
            <p:ph type="body" idx="1"/>
          </p:nvPr>
        </p:nvSpPr>
        <p:spPr>
          <a:xfrm>
            <a:off x="-1828800" y="-1828800"/>
            <a:ext cx="91440" cy="914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Economica" panose="020B0604020202020204" charset="0"/>
            </a:endParaRPr>
          </a:p>
        </p:txBody>
      </p:sp>
      <p:pic>
        <p:nvPicPr>
          <p:cNvPr id="115" name="Google Shape;11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624834-013E-7249-F488-C816A0DA935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8</a:t>
            </a:fld>
            <a:endParaRPr lang="uk-UA" dirty="0"/>
          </a:p>
        </p:txBody>
      </p:sp>
      <p:pic>
        <p:nvPicPr>
          <p:cNvPr id="116" name="Picture 115" descr="06-seq-add-public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4560" y="841248"/>
            <a:ext cx="3902315" cy="379476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1371600" y="470916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07D8B"/>
                </a:solidFill>
                <a:latin typeface="Arial"/>
              </a:rPr>
              <a:t>Додавання публікації: клієнт → сервер → база даних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Засоби розробки</a:t>
            </a:r>
            <a:endParaRPr sz="3200" dirty="0"/>
          </a:p>
        </p:txBody>
      </p:sp>
      <p:sp>
        <p:nvSpPr>
          <p:cNvPr id="121" name="Google Shape;121;p2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>
                <a:solidFill>
                  <a:srgbClr val="24314A"/>
                </a:solidFill>
                <a:latin typeface="Arial"/>
              </a:rPr>
              <a:t>Платформа (сервер)</a:t>
            </a:r>
            <a:endParaRPr dirty="0">
              <a:latin typeface="Economica" panose="020B0604020202020204" charset="0"/>
            </a:endParaRP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4314A"/>
                </a:solidFill>
                <a:latin typeface="Arial"/>
              </a:rPr>
              <a:t>Node.js (≥ 22.5) + фреймворк Express;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4314A"/>
                </a:solidFill>
                <a:latin typeface="Arial"/>
              </a:rPr>
              <a:t>вбудована СУБД node:sqlite (без зовнішніх залежностей);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4314A"/>
                </a:solidFill>
                <a:latin typeface="Arial"/>
              </a:rPr>
              <a:t>Клієнт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4314A"/>
                </a:solidFill>
                <a:latin typeface="Arial"/>
              </a:rPr>
              <a:t>ванільний JavaScript, HTML5, CSS3 (без фреймворків і складання);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4314A"/>
                </a:solidFill>
                <a:latin typeface="Arial"/>
              </a:rPr>
              <a:t>Експорт і безпека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4314A"/>
                </a:solidFill>
                <a:latin typeface="Arial"/>
              </a:rPr>
              <a:t>власні генератори OOXML (.xlsx / .docx); хешування паролів scrypt (node:crypto);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4314A"/>
                </a:solidFill>
                <a:latin typeface="Arial"/>
              </a:rPr>
              <a:t>Інструменти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4314A"/>
                </a:solidFill>
                <a:latin typeface="Arial"/>
              </a:rPr>
              <a:t>Git / GitHub; портативний Node (x64 / ARM64) для офлайн-постачання.</a:t>
            </a:r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9</a:t>
            </a:fld>
            <a:endParaRPr lang="uk-UA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200" dirty="0" smtClean="0"/>
              <a:t>Інтерфейс: введення даних, навігація та результат</a:t>
            </a:r>
            <a:endParaRPr sz="3200" dirty="0"/>
          </a:p>
        </p:txBody>
      </p:sp>
      <p:sp>
        <p:nvSpPr>
          <p:cNvPr id="128" name="Google Shape;128;p22"/>
          <p:cNvSpPr txBox="1">
            <a:spLocks noGrp="1"/>
          </p:cNvSpPr>
          <p:nvPr>
            <p:ph type="body" idx="1"/>
          </p:nvPr>
        </p:nvSpPr>
        <p:spPr>
          <a:xfrm>
            <a:off x="-1828800" y="-1828800"/>
            <a:ext cx="91440" cy="914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10</a:t>
            </a:fld>
            <a:endParaRPr lang="uk-UA" dirty="0"/>
          </a:p>
        </p:txBody>
      </p:sp>
      <p:sp>
        <p:nvSpPr>
          <p:cNvPr id="130" name="TextBox 129"/>
          <p:cNvSpPr txBox="1"/>
          <p:nvPr/>
        </p:nvSpPr>
        <p:spPr>
          <a:xfrm>
            <a:off x="365760" y="960120"/>
            <a:ext cx="3977639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4314A"/>
                </a:solidFill>
                <a:latin typeface="Arial"/>
              </a:rPr>
              <a:t>Куди і що вводити: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4314A"/>
                </a:solidFill>
                <a:latin typeface="Arial"/>
              </a:rPr>
              <a:t>дані публікації/автора — у формах (назва, автори, видання, рік…);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4314A"/>
                </a:solidFill>
                <a:latin typeface="Arial"/>
              </a:rPr>
              <a:t>Кнопки переходів: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4314A"/>
                </a:solidFill>
                <a:latin typeface="Arial"/>
              </a:rPr>
              <a:t>вкладки вгорі перемикають розділи; «Зберегти» додає запис, «Ред.» — змінює;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4314A"/>
                </a:solidFill>
                <a:latin typeface="Arial"/>
              </a:rPr>
              <a:t>Який результат: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4314A"/>
                </a:solidFill>
                <a:latin typeface="Arial"/>
              </a:rPr>
              <a:t>«Звіти» → вибір форми → «Експорт у Excel/Word» дає готовий файл.</a:t>
            </a:r>
          </a:p>
        </p:txBody>
      </p:sp>
      <p:pic>
        <p:nvPicPr>
          <p:cNvPr id="131" name="Picture 130" descr="screen-publica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914400"/>
            <a:ext cx="1565352" cy="178308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4572000" y="274320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07D8B"/>
                </a:solidFill>
                <a:latin typeface="Arial"/>
              </a:rPr>
              <a:t>Введення / перелік публікацій</a:t>
            </a:r>
          </a:p>
        </p:txBody>
      </p:sp>
      <p:pic>
        <p:nvPicPr>
          <p:cNvPr id="133" name="Picture 132" descr="screen-repor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063240"/>
            <a:ext cx="1148756" cy="1783080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4572000" y="489204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07D8B"/>
                </a:solidFill>
                <a:latin typeface="Arial"/>
              </a:rPr>
              <a:t>Звіти й експорт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2400" dirty="0" smtClean="0"/>
              <a:t>Фрагменти коду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11</a:t>
            </a:fld>
            <a:endParaRPr lang="uk-UA" dirty="0"/>
          </a:p>
        </p:txBody>
      </p:sp>
      <p:sp>
        <p:nvSpPr>
          <p:cNvPr id="130" name="TextBox 129"/>
          <p:cNvSpPr txBox="1"/>
          <p:nvPr/>
        </p:nvSpPr>
        <p:spPr>
          <a:xfrm>
            <a:off x="411480" y="868680"/>
            <a:ext cx="8321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4314A"/>
                </a:solidFill>
                <a:latin typeface="Arial"/>
              </a:rPr>
              <a:t>Мова — JavaScript (Node.js на сервері, браузер — клієнт). Обсяг — ≈ 2645 рядків (сервер ≈ 1580, клієнт ≈ 1060) у 10 файлах.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1480" y="1600200"/>
            <a:ext cx="4160520" cy="2331720"/>
          </a:xfrm>
          <a:prstGeom prst="rect">
            <a:avLst/>
          </a:prstGeom>
          <a:solidFill>
            <a:srgbClr val="F1F4F8"/>
          </a:solidFill>
          <a:ln w="9525">
            <a:solidFill>
              <a:srgbClr val="C8D3DF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1A2A3A"/>
                </a:solidFill>
                <a:latin typeface="Consolas"/>
              </a:rPr>
              <a:t>// 1) Обсяг в авторських аркушах (нескоротний дріб)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1A2A3A"/>
                </a:solidFill>
                <a:latin typeface="Consolas"/>
              </a:rPr>
              <a:t>const gcd = (a, b) =&gt; b ? gcd(b, a % b) : a;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1A2A3A"/>
                </a:solidFill>
                <a:latin typeface="Consolas"/>
              </a:rPr>
              <a:t>const sheetsOf = (pages) =&gt;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1A2A3A"/>
                </a:solidFill>
                <a:latin typeface="Consolas"/>
              </a:rPr>
              <a:t>  const g = gcd(pages, 12) || 1;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1A2A3A"/>
                </a:solidFill>
                <a:latin typeface="Consolas"/>
              </a:rPr>
              <a:t>  return { decimal: +(pages/12).toFixed(2),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1A2A3A"/>
                </a:solidFill>
                <a:latin typeface="Consolas"/>
              </a:rPr>
              <a:t>           fraction: `${pages/g}/${12/g}` };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1A2A3A"/>
                </a:solidFill>
                <a:latin typeface="Consolas"/>
              </a:rPr>
              <a:t>};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663440" y="1600200"/>
            <a:ext cx="4069080" cy="2331720"/>
          </a:xfrm>
          <a:prstGeom prst="rect">
            <a:avLst/>
          </a:prstGeom>
          <a:solidFill>
            <a:srgbClr val="F1F4F8"/>
          </a:solidFill>
          <a:ln w="9525">
            <a:solidFill>
              <a:srgbClr val="C8D3DF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1A2A3A"/>
                </a:solidFill>
                <a:latin typeface="Consolas"/>
              </a:rPr>
              <a:t>// 2) REST: перелік публікацій із пошуком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1A2A3A"/>
                </a:solidFill>
                <a:latin typeface="Consolas"/>
              </a:rPr>
              <a:t>app.get('/api/publications',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1A2A3A"/>
                </a:solidFill>
                <a:latin typeface="Consolas"/>
              </a:rPr>
              <a:t>  requireAuth, (req, res) =&gt;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1A2A3A"/>
                </a:solidFill>
                <a:latin typeface="Consolas"/>
              </a:rPr>
              <a:t>    const rows = db.prepare(SQL_LIST)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1A2A3A"/>
                </a:solidFill>
                <a:latin typeface="Consolas"/>
              </a:rPr>
              <a:t>      .all(req.query.q ?? '');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1A2A3A"/>
                </a:solidFill>
                <a:latin typeface="Consolas"/>
              </a:rPr>
              <a:t>    res.json(rows);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1A2A3A"/>
                </a:solidFill>
                <a:latin typeface="Consolas"/>
              </a:rPr>
              <a:t>});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11480" y="4069080"/>
            <a:ext cx="8321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07D8B"/>
                </a:solidFill>
                <a:latin typeface="Arial"/>
              </a:rPr>
              <a:t>Бізнес-логіка та доступ до даних — на сервері (server/api.js)</a:t>
            </a:r>
          </a:p>
        </p:txBody>
      </p:sp>
    </p:spTree>
    <p:extLst>
      <p:ext uri="{BB962C8B-B14F-4D97-AF65-F5344CB8AC3E}">
        <p14:creationId xmlns:p14="http://schemas.microsoft.com/office/powerpoint/2010/main" val="29422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>
            <a:spLocks noGrp="1"/>
          </p:cNvSpPr>
          <p:nvPr>
            <p:ph type="title"/>
          </p:nvPr>
        </p:nvSpPr>
        <p:spPr>
          <a:xfrm>
            <a:off x="268925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Висновки</a:t>
            </a:r>
            <a:endParaRPr sz="3200" dirty="0"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>
                <a:solidFill>
                  <a:srgbClr val="24314A"/>
                </a:solidFill>
                <a:latin typeface="Arial"/>
              </a:rPr>
              <a:t>Створено працездатний локальний застосунок обліку публікацій кафедри.</a:t>
            </a:r>
            <a:endParaRPr dirty="0">
              <a:latin typeface="Economica" panose="020B0604020202020204" charset="0"/>
            </a:endParaRP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4314A"/>
                </a:solidFill>
                <a:latin typeface="Arial"/>
              </a:rPr>
              <a:t>Реалізовані можливості: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4314A"/>
                </a:solidFill>
                <a:latin typeface="Arial"/>
              </a:rPr>
              <a:t>повний CRUD для публікацій, авторів, виставок, патентів і розробок;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4314A"/>
                </a:solidFill>
                <a:latin typeface="Arial"/>
              </a:rPr>
              <a:t>автоматичні обчислення та формування 15 звітних форм з експортом у Excel і Word;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4314A"/>
                </a:solidFill>
                <a:latin typeface="Arial"/>
              </a:rPr>
              <a:t>пошук, фільтрація, пейджинг; розмежування доступу за ролями;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4314A"/>
                </a:solidFill>
                <a:latin typeface="Arial"/>
              </a:rPr>
              <a:t>автономна офлайн-робота (x64 / ARM64).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4314A"/>
                </a:solidFill>
                <a:latin typeface="Arial"/>
              </a:rPr>
              <a:t>Дані вводяться один раз, звіти формуються автоматично — менше часу й помилок у щорічній звітності.</a:t>
            </a:r>
          </a:p>
        </p:txBody>
      </p:sp>
      <p:pic>
        <p:nvPicPr>
          <p:cNvPr id="136" name="Google Shape;13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BB10B47-7B7A-16D3-B2F7-7BCD981C8FD9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12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88973738"/>
      </p:ext>
    </p:extLst>
  </p:cSld>
  <p:clrMapOvr>
    <a:masterClrMapping/>
  </p:clrMapOvr>
</p:sld>
</file>

<file path=ppt/theme/theme1.xml><?xml version="1.0" encoding="utf-8"?>
<a:theme xmlns:a="http://schemas.openxmlformats.org/drawingml/2006/main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презентації кваліфікаційної роботи магістрів" id="{72E840FA-3155-46C9-BB37-701E4C9B1C67}" vid="{DC416FE5-D050-4603-AD75-8F49A0CCCB6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759</Words>
  <Application>Microsoft Office PowerPoint</Application>
  <PresentationFormat>On-screen Show (16:9)</PresentationFormat>
  <Paragraphs>98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Economica</vt:lpstr>
      <vt:lpstr>Consolas</vt:lpstr>
      <vt:lpstr>Open Sans</vt:lpstr>
      <vt:lpstr>Шаблон презентації кваліфікаційної роботи магістрів</vt:lpstr>
      <vt:lpstr>Програмний застосунок обліку публікацій викладачів і студентів</vt:lpstr>
      <vt:lpstr>Проблема, актуальність та мета роботи</vt:lpstr>
      <vt:lpstr>Переваги і недоліки існуючих аналогів</vt:lpstr>
      <vt:lpstr>Постановка задачі проєкту, вимоги та обмеження</vt:lpstr>
      <vt:lpstr>Діаграма прецедентів</vt:lpstr>
      <vt:lpstr>Архітектура системи</vt:lpstr>
      <vt:lpstr>Схема бази даних</vt:lpstr>
      <vt:lpstr>Діаграма послідовності</vt:lpstr>
      <vt:lpstr>Засоби розробки</vt:lpstr>
      <vt:lpstr>Інтерфейс: введення даних, навігація та результат</vt:lpstr>
      <vt:lpstr>Фрагменти коду</vt:lpstr>
      <vt:lpstr>Висновки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роботи</dc:title>
  <dc:creator>Lexin</dc:creator>
  <cp:lastModifiedBy>UserHome</cp:lastModifiedBy>
  <cp:revision>4</cp:revision>
  <dcterms:created xsi:type="dcterms:W3CDTF">2024-10-03T11:39:34Z</dcterms:created>
  <dcterms:modified xsi:type="dcterms:W3CDTF">2026-06-25T21:34:51Z</dcterms:modified>
</cp:coreProperties>
</file>